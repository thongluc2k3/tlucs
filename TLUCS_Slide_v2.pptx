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ep_first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Không thiếu kênh để hỏi — thiếu người trả lời đúng lúc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Phân mảnh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Ngại làm phiền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Bài trôi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Thiếu ngữ cảnh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Không đúng người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85855" cy="429768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99339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454335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sinh viên loay hoay giữa nhiều kênh rời rạc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Ghép ảnh: Group Facebook · Zalo/Messenger · Discord · Drive tài liệu · Chợ gia sư  —  câu hỏi không ai trả lời / trả lời sai bối cảnh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ĐỊNH VỊ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TLUCS là kho tri thức học thuật mở của cộng đồng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Open core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Cộng đồng tự bổ sung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Tra cứu bằng RAG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Ghi công đóng góp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874519"/>
            <a:ext cx="5943600" cy="1143000"/>
          </a:xfrm>
          <a:prstGeom prst="roundRect">
            <a:avLst>
              <a:gd name="adj" fmla="val 12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74519"/>
            <a:ext cx="59436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KHO TRI THỨC HỌC THUẬT MỞ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C9D6EC"/>
                </a:solidFill>
                <a:latin typeface="Arial"/>
              </a:rPr>
              <a:t>Chuẩn hóa + gắn ngữ cảnh (trường / môn / kỳ) · trả lời có trích nguồn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EEF0FB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0E1B3A"/>
                </a:solidFill>
                <a:latin typeface="Arial"/>
              </a:rPr>
              <a:t>ĐỘNG CƠ A — nguồn dồi dào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2733"/>
                </a:solidFill>
                <a:latin typeface="Arial"/>
              </a:rPr>
              <a:t>Bảng chia sẻ  +  Diễn đàn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Tài liệu · thông tin · thảo luận công khai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Rẻ, nhiều, chất lượng dao động → cần lọc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977639"/>
            <a:ext cx="5212080" cy="1965960"/>
          </a:xfrm>
          <a:prstGeom prst="roundRect">
            <a:avLst>
              <a:gd name="adj" fmla="val 6000"/>
            </a:avLst>
          </a:prstGeom>
          <a:solidFill>
            <a:srgbClr val="EAF7F1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43A30"/>
                </a:solidFill>
                <a:latin typeface="Arial"/>
              </a:rPr>
              <a:t>ĐỘNG CƠ B — nguồn tinh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2733"/>
                </a:solidFill>
                <a:latin typeface="Arial"/>
              </a:rPr>
              <a:t>Bảng yêu cầu  +  ghép người  +  phiên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Hỗ trợ 1–1 với người đã trải qua bối cảnh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Ít hơn, tốn công hơn · giàu ngữ cảnh, có cam kết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291840" y="3017520"/>
            <a:ext cx="1280160" cy="960119"/>
          </a:xfrm>
          <a:prstGeom prst="line">
            <a:avLst/>
          </a:prstGeom>
          <a:ln w="2286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589520" y="3017520"/>
            <a:ext cx="1371600" cy="960119"/>
          </a:xfrm>
          <a:prstGeom prst="line">
            <a:avLst/>
          </a:prstGeom>
          <a:ln w="2286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3200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2563EB"/>
                </a:solidFill>
                <a:latin typeface="Arial"/>
              </a:rPr>
              <a:t>nạp dữ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1">
                <a:solidFill>
                  <a:srgbClr val="16A34A"/>
                </a:solidFill>
                <a:latin typeface="Arial"/>
              </a:rPr>
              <a:t>nạp 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6172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6B7280"/>
                </a:solidFill>
                <a:latin typeface="Arial"/>
              </a:rPr>
              <a:t>RAG dưới ngưỡng tin cậy → Agent chuyển người dùng sang Động cơ B; kết quả phiên quay lại làm dày kho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CÁCH HOẠT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Hỏi tự nhiên — trả lời có nguồn, không phải đọc hết tài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Từ khóa + ngữ nghĩa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Lọc theo trường/môn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Ngưỡng 85%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Không đoán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EEF0FB"/>
          </a:solidFill>
          <a:ln w="1651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029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Câu hỏi người dùng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hiểu lỗi chính tả · “10k” = 10.000đ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35808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16510">
            <a:solidFill>
              <a:srgbClr val="C7C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029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Tìm trong kho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từ khóa + ngữ nghĩa · lọc theo ngữ cảnh người hỏi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2743200"/>
            <a:ext cx="0" cy="292608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4197096"/>
            <a:ext cx="5486400" cy="868680"/>
          </a:xfrm>
          <a:prstGeom prst="roundRect">
            <a:avLst>
              <a:gd name="adj" fmla="val 8000"/>
            </a:avLst>
          </a:prstGeom>
          <a:solidFill>
            <a:srgbClr val="FCEFD8"/>
          </a:solidFill>
          <a:ln w="1651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97096"/>
            <a:ext cx="50292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Chấm điểm mức khớp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6B7280"/>
                </a:solidFill>
                <a:latin typeface="Arial"/>
              </a:rPr>
              <a:t>mỗi kết quả có điểm độ tin cậy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3904487"/>
            <a:ext cx="0" cy="292609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5358383"/>
            <a:ext cx="2578608" cy="1051560"/>
          </a:xfrm>
          <a:prstGeom prst="roundRect">
            <a:avLst>
              <a:gd name="adj" fmla="val 9000"/>
            </a:avLst>
          </a:prstGeom>
          <a:solidFill>
            <a:srgbClr val="EAF7F1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58383"/>
            <a:ext cx="230428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43A30"/>
                </a:solidFill>
                <a:latin typeface="Arial"/>
              </a:rPr>
              <a:t>≥ 85%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2733"/>
                </a:solidFill>
                <a:latin typeface="Arial"/>
              </a:rPr>
              <a:t>Trả lời + TRÍCH DẪN NGUỒN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3592" y="5358383"/>
            <a:ext cx="2578608" cy="1051560"/>
          </a:xfrm>
          <a:prstGeom prst="roundRect">
            <a:avLst>
              <a:gd name="adj" fmla="val 9000"/>
            </a:avLst>
          </a:prstGeom>
          <a:solidFill>
            <a:srgbClr val="FDEEEE"/>
          </a:solidFill>
          <a:ln w="17780">
            <a:solidFill>
              <a:srgbClr val="C97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5358383"/>
            <a:ext cx="2304288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7A2F28"/>
                </a:solidFill>
                <a:latin typeface="Arial"/>
              </a:rPr>
              <a:t>&lt; 85%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2733"/>
                </a:solidFill>
                <a:latin typeface="Arial"/>
              </a:rPr>
              <a:t>“Chưa biết” → gợi ý hỏi cộng đồng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975104" y="5065775"/>
            <a:ext cx="1453896" cy="292608"/>
          </a:xfrm>
          <a:prstGeom prst="line">
            <a:avLst/>
          </a:prstGeom>
          <a:ln w="1778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29000" y="5065775"/>
            <a:ext cx="1453896" cy="292608"/>
          </a:xfrm>
          <a:prstGeom prst="line">
            <a:avLst/>
          </a:prstGeom>
          <a:ln w="17780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20840" y="1874519"/>
            <a:ext cx="4800600" cy="416052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85431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874519"/>
            <a:ext cx="4069080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màn hình chat AI Agent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Trợ lý AI (nút nổi góc phải)
Chức năng: câu trả lời kèm dòng “Nguồn: [tài liệu &gt; mục]”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VÒNG TĂNG TRƯỞNG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Cộng đồng tự làm dày kho — càng dùng càng chính xác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Bài chia sẻ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Q&amp;A diễn đàn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Tóm tắt phiên (opt-in)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FAQ khoa / CLB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Người dùng hỏi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&amp; đóng góp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37744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Nhiều tài liệu,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Q&amp;A, phiên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16052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AF7F1"/>
          </a:solidFill>
          <a:ln w="1778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16052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Kho dày hơn,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nhãn ngữ cảnh tốt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2514600" cy="105156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 w="1778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514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RAG trả lời</a:t>
            </a:r>
          </a:p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đúng &amp; nhanh hơn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2903220"/>
            <a:ext cx="320040" cy="0"/>
          </a:xfrm>
          <a:prstGeom prst="line">
            <a:avLst/>
          </a:prstGeom>
          <a:ln w="2286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14900" y="3429000"/>
            <a:ext cx="0" cy="731520"/>
          </a:xfrm>
          <a:prstGeom prst="line">
            <a:avLst/>
          </a:prstGeom>
          <a:ln w="2286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337560" y="4686300"/>
            <a:ext cx="320040" cy="0"/>
          </a:xfrm>
          <a:prstGeom prst="line">
            <a:avLst/>
          </a:prstGeom>
          <a:ln w="2286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080260" y="3429000"/>
            <a:ext cx="0" cy="731520"/>
          </a:xfrm>
          <a:prstGeom prst="line">
            <a:avLst/>
          </a:prstGeom>
          <a:ln w="2286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51760" y="356616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1">
                <a:solidFill>
                  <a:srgbClr val="6B7280"/>
                </a:solidFill>
                <a:latin typeface="Arial"/>
              </a:rPr>
              <a:t>càng dùng
càng dày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40680"/>
            <a:ext cx="5577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 i="1">
                <a:solidFill>
                  <a:srgbClr val="6B7280"/>
                </a:solidFill>
                <a:latin typeface="Arial"/>
              </a:rPr>
              <a:t>Câu hỏi kho trả lời yếu → gắn cờ “khoảng trống tri thức” → cộng đồng viết bài / đoàn khoa mở buổi ôn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874519"/>
            <a:ext cx="4800600" cy="416052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85431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874519"/>
            <a:ext cx="4069080" cy="4160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Bảng chia sẻ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Bảng chia sẻ
Chức năng: thẻ tài liệu Miễn phí  +  thẻ “Mở khóa” trả phí (preview mờ)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KẾT NỐI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Khi tài liệu không đủ → ghép đúng người, có cam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Ghép theo ngữ cảnh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Phòng riêng + lịch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Escrow · phí 1%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Đánh giá 2 chiều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94960" cy="42062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466344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Bảng yêu cầu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Bảng yêu cầu
3 loại thẻ: Miễn phí · Trao đổi · Trả phí (10k–200k)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74519"/>
            <a:ext cx="5166360" cy="42062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9672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874519"/>
            <a:ext cx="4434840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Phòng hỗ trợ sau khi ghép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Phiên của tôi
Chức năng: lịch hẹn · check-in · xác nhận hoàn tất · đánh giá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SẢN PHẨM HIỆN TẠI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Sản phẩm đã chạy — pilot để kiểm chứng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A34A"/>
                </a:solidFill>
                <a:latin typeface="Arial"/>
              </a:rPr>
              <a:t>✔ Đã hoạt động: </a:t>
            </a:r>
            <a:r>
              <a:rPr sz="1100" b="0" i="0">
                <a:solidFill>
                  <a:srgbClr val="6B7280"/>
                </a:solidFill>
                <a:latin typeface="Arial"/>
              </a:rPr>
              <a:t>backend + luồng demo    </a:t>
            </a:r>
            <a:r>
              <a:rPr sz="1100" b="1" i="0">
                <a:solidFill>
                  <a:srgbClr val="F5A623"/>
                </a:solidFill>
                <a:latin typeface="Arial"/>
              </a:rPr>
              <a:t>● Đang hoàn thiện: </a:t>
            </a:r>
            <a:r>
              <a:rPr sz="1100" b="0" i="0">
                <a:solidFill>
                  <a:srgbClr val="6B7280"/>
                </a:solidFill>
                <a:latin typeface="Arial"/>
              </a:rPr>
              <a:t>thanh toán, chat media    </a:t>
            </a:r>
            <a:r>
              <a:rPr sz="1100" b="1" i="0">
                <a:solidFill>
                  <a:srgbClr val="E8342B"/>
                </a:solidFill>
                <a:latin typeface="Arial"/>
              </a:rPr>
              <a:t>▲ Chưa kiểm chứng: </a:t>
            </a:r>
            <a:r>
              <a:rPr sz="1100" b="0" i="0">
                <a:solidFill>
                  <a:srgbClr val="6B7280"/>
                </a:solidFill>
                <a:latin typeface="Arial"/>
              </a:rPr>
              <a:t>người dùng thật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545738" cy="42062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814218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Trang chủ + Dashboard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Trang chủ
hero · dashboard cá nhân sau đăng nhập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74519"/>
            <a:ext cx="3545738" cy="42062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7570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1874519"/>
            <a:ext cx="2814218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Diễn đàn / Server trường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Diễn đàn hoặc Server trường
feed · bài viết · kênh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3036" y="1874519"/>
            <a:ext cx="3545738" cy="420624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07628" y="2039112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8796" y="1874519"/>
            <a:ext cx="2814218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Ví + Phiên hỗ trợ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Tab: Ví / Phiên của tôi
số dư · escrow · lịch · đánh giá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THỊ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HCMUS trước — mở rộng theo mật độ cộng đồng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Đủ người hỏi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Đủ người giúp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Đủ nội dung ban đầu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mới mở trường mới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80160" y="3246120"/>
            <a:ext cx="9631375" cy="0"/>
          </a:xfrm>
          <a:prstGeom prst="line">
            <a:avLst/>
          </a:prstGeom>
          <a:ln w="31750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60119" y="2926080"/>
            <a:ext cx="640080" cy="640080"/>
          </a:xfrm>
          <a:prstGeom prst="ellipse">
            <a:avLst/>
          </a:prstGeom>
          <a:solidFill>
            <a:srgbClr val="9CD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0E1B3A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7490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B3A"/>
                </a:solidFill>
                <a:latin typeface="Arial"/>
              </a:rPr>
              <a:t>HCMUS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Kiểm chứng sâu</a:t>
            </a:r>
          </a:p>
        </p:txBody>
      </p:sp>
      <p:sp>
        <p:nvSpPr>
          <p:cNvPr id="10" name="Oval 9"/>
          <p:cNvSpPr/>
          <p:nvPr/>
        </p:nvSpPr>
        <p:spPr>
          <a:xfrm>
            <a:off x="4170578" y="29260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1898" y="37490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B3A"/>
                </a:solidFill>
                <a:latin typeface="Arial"/>
              </a:rPr>
              <a:t>ĐHQG-HCM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Kết nối liên trường</a:t>
            </a:r>
          </a:p>
        </p:txBody>
      </p:sp>
      <p:sp>
        <p:nvSpPr>
          <p:cNvPr id="12" name="Oval 11"/>
          <p:cNvSpPr/>
          <p:nvPr/>
        </p:nvSpPr>
        <p:spPr>
          <a:xfrm>
            <a:off x="7381036" y="29260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2356" y="37490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B3A"/>
                </a:solidFill>
                <a:latin typeface="Arial"/>
              </a:rPr>
              <a:t>Cụm TP.HCM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Mở theo hạt nhân</a:t>
            </a:r>
          </a:p>
        </p:txBody>
      </p:sp>
      <p:sp>
        <p:nvSpPr>
          <p:cNvPr id="14" name="Oval 13"/>
          <p:cNvSpPr/>
          <p:nvPr/>
        </p:nvSpPr>
        <p:spPr>
          <a:xfrm>
            <a:off x="10591495" y="29260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2815" y="3749039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E1B3A"/>
                </a:solidFill>
                <a:latin typeface="Arial"/>
              </a:rPr>
              <a:t>Toàn quốc</a:t>
            </a:r>
          </a:p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Nhân rộng quy trình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892040"/>
            <a:ext cx="5943600" cy="1371600"/>
          </a:xfrm>
          <a:prstGeom prst="roundRect">
            <a:avLst>
              <a:gd name="adj" fmla="val 3000"/>
            </a:avLst>
          </a:prstGeom>
          <a:solidFill>
            <a:srgbClr val="F5F7FB"/>
          </a:solidFill>
          <a:ln w="20320">
            <a:solidFill>
              <a:srgbClr val="9AA6B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73552" y="5056631"/>
            <a:ext cx="914400" cy="384048"/>
          </a:xfrm>
          <a:prstGeom prst="roundRect">
            <a:avLst>
              <a:gd name="adj" fmla="val 30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ẢNH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892040"/>
            <a:ext cx="5212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1B3A"/>
                </a:solidFill>
                <a:latin typeface="Arial"/>
              </a:rPr>
              <a:t>CHÈN ẢNH: </a:t>
            </a:r>
            <a:r>
              <a:rPr sz="1400" b="0" i="0">
                <a:solidFill>
                  <a:srgbClr val="0E1B3A"/>
                </a:solidFill>
                <a:latin typeface="Arial"/>
              </a:rPr>
              <a:t>bản đồ cụm trường TP.HCM (tùy chọn)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Arial"/>
              </a:rPr>
              <a:t>hoặc logo các trường hạt nhân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DOANH THU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Ngắn hạn kiểm chứng — dài hạn mới tối ưu doanh thu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8585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A"/>
                </a:solidFill>
                <a:latin typeface="Arial"/>
              </a:rPr>
              <a:t>1% = số liệu demo</a:t>
            </a:r>
            <a:r>
              <a:rPr sz="1250" b="0" i="0">
                <a:solidFill>
                  <a:srgbClr val="6B7280"/>
                </a:solidFill>
                <a:latin typeface="Arial"/>
              </a:rPr>
              <a:t>   ·   </a:t>
            </a:r>
            <a:r>
              <a:rPr sz="1250" b="1" i="0">
                <a:solidFill>
                  <a:srgbClr val="0E1B3A"/>
                </a:solidFill>
                <a:latin typeface="Arial"/>
              </a:rPr>
              <a:t>Tầng miễn phí luôn mở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1089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9CD32B"/>
                </a:solidFill>
                <a:latin typeface="Arial"/>
              </a:rPr>
              <a:t>NGẮN HẠN · PILOT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Chưa ưu tiên doanh thu thật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9D6EC"/>
                </a:solidFill>
                <a:latin typeface="Arial"/>
              </a:rPr>
              <a:t>Mô phỏng cọc + giải ngân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9D6EC"/>
                </a:solidFill>
                <a:latin typeface="Arial"/>
              </a:rPr>
              <a:t>Đo mức sẵn lòng chi trả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C9D6EC"/>
                </a:solidFill>
                <a:latin typeface="Arial"/>
              </a:rPr>
              <a:t>So sánh miễn phí / trao đổi / phí nhỏ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03120"/>
            <a:ext cx="6995160" cy="3474720"/>
          </a:xfrm>
          <a:prstGeom prst="roundRect">
            <a:avLst>
              <a:gd name="adj" fmla="val 5000"/>
            </a:avLst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2563EB"/>
                </a:solidFill>
                <a:latin typeface="Arial"/>
              </a:rPr>
              <a:t>DÀI HẠN · B2C</a:t>
            </a:r>
          </a:p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0E1B3A"/>
                </a:solidFill>
                <a:latin typeface="Arial"/>
              </a:rPr>
              <a:t>Phí nhỏ khi trao đổi thành công</a:t>
            </a: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Phiên trả phí 1–1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Nội dung / buổi chia sẻ trả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31720"/>
            <a:ext cx="3063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7C3AED"/>
                </a:solidFill>
                <a:latin typeface="Arial"/>
              </a:rPr>
              <a:t>DÀI HẠN · B2B</a:t>
            </a:r>
          </a:p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0E1B3A"/>
                </a:solidFill>
                <a:latin typeface="Arial"/>
              </a:rPr>
              <a:t>Gói công cụ cho tổ chức</a:t>
            </a: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Trường · khoa · CLB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6B7280"/>
                </a:solidFill>
                <a:latin typeface="Arial"/>
              </a:rPr>
              <a:t>Dashboard cung–cầu · quản lý hoạt động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Arial"/>
              </a:rPr>
              <a:t>Mức phí chỉ chốt sau khi có dữ liệu về sẵn lòng chi trả, chi phí vận hành và nhu cầu tổ chức.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1B3A"/>
                </a:solidFill>
                <a:latin typeface="Arial"/>
              </a:rPr>
              <a:t>TLUCS</a:t>
            </a:r>
            <a:r>
              <a:rPr sz="1000" b="0" i="0">
                <a:solidFill>
                  <a:srgbClr val="6B7280"/>
                </a:solidFill>
                <a:latin typeface="Arial"/>
              </a:rPr>
              <a:t>   ·  Pilot HCMUS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94015" y="256032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 i="1">
                <a:solidFill>
                  <a:srgbClr val="E8342B"/>
                </a:solidFill>
                <a:latin typeface="Arial"/>
              </a:rPr>
              <a:t>ĐỘI NGŨ &amp; THỰC 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E1B3A"/>
                </a:solidFill>
                <a:latin typeface="Arial"/>
              </a:rPr>
              <a:t>12 người · 3 lớp năng lực · 1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269748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70632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6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44958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7706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1 Luật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2860" y="2011680"/>
            <a:ext cx="2247900" cy="685800"/>
          </a:xfrm>
          <a:prstGeom prst="rect">
            <a:avLst/>
          </a:prstGeom>
          <a:solidFill>
            <a:srgbClr val="9CD3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2860" y="2770632"/>
            <a:ext cx="22479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E1B3A"/>
                </a:solidFill>
                <a:latin typeface="Arial"/>
              </a:rPr>
              <a:t>5 Liên ngành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5486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2563EB"/>
                </a:solidFill>
                <a:latin typeface="Arial"/>
              </a:rPr>
              <a:t>SẢN PHẨM &amp; CÔNG NGHỆ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F2733"/>
                </a:solidFill>
                <a:latin typeface="Arial"/>
              </a:rPr>
              <a:t>Frontend · backend · database · QA · AI Agent</a:t>
            </a: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F5A623"/>
                </a:solidFill>
                <a:latin typeface="Arial"/>
              </a:rPr>
              <a:t>AN TOÀN &amp; CHÍNH SÁCH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F2733"/>
                </a:solidFill>
                <a:latin typeface="Arial"/>
              </a:rPr>
              <a:t>Quyền riêng tư · giao dịch · nội dung · tranh chấp</a:t>
            </a:r>
          </a:p>
          <a:p>
            <a:pPr algn="l">
              <a:lnSpc>
                <a:spcPct val="122000"/>
              </a:lnSpc>
            </a:pPr>
            <a:r>
              <a:rPr sz="1400" b="0" i="0">
                <a:solidFill>
                  <a:srgbClr val="1F2733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16A34A"/>
                </a:solidFill>
                <a:latin typeface="Arial"/>
              </a:rPr>
              <a:t>NGƯỜI DÙNG &amp; PILOT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F2733"/>
                </a:solidFill>
                <a:latin typeface="Arial"/>
              </a:rPr>
              <a:t>Nghiên cứu · nội dung · kinh doanh · cộng đồng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965960"/>
            <a:ext cx="5029200" cy="4297680"/>
          </a:xfrm>
          <a:prstGeom prst="roundRect">
            <a:avLst>
              <a:gd name="adj" fmla="val 5000"/>
            </a:avLst>
          </a:prstGeom>
          <a:solidFill>
            <a:srgbClr val="0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945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D32B"/>
                </a:solidFill>
                <a:latin typeface="Arial"/>
              </a:rPr>
              <a:t>ĐẾN THÁNG 9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27889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6148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Hoàn thiện sản phẩm và AI Agent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447287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419856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Thử nghiệm pilot bản MVP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78224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Chuẩn bị dữ liệu, demo và đo lường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764024"/>
            <a:ext cx="384048" cy="384048"/>
          </a:xfrm>
          <a:prstGeom prst="ellipse">
            <a:avLst/>
          </a:prstGeom>
          <a:solidFill>
            <a:srgbClr val="9CD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E1B3A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736592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Hoàn thiện chính sách an toàn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6235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9CD32B"/>
                </a:solidFill>
                <a:latin typeface="Arial"/>
              </a:rPr>
              <a:t>Mục tiêu: một demo ổn định và một pilot đo được.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355080"/>
            <a:ext cx="11185855" cy="0"/>
          </a:xfrm>
          <a:prstGeom prst="line">
            <a:avLst/>
          </a:prstGeom>
          <a:ln w="9525">
            <a:solidFill>
              <a:srgbClr val="C7CE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ep_last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